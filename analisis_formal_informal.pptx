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3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5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72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5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5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8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4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0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4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2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85" y="643466"/>
            <a:ext cx="2078455" cy="5225627"/>
          </a:xfrm>
        </p:spPr>
        <p:txBody>
          <a:bodyPr anchor="ctr">
            <a:normAutofit/>
          </a:bodyPr>
          <a:lstStyle/>
          <a:p>
            <a:r>
              <a:rPr lang="es-AR" sz="3100"/>
              <a:t>Análisis de Ingresos Laborales: Formal vs Informal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31539" y="1570271"/>
            <a:ext cx="0" cy="3200400"/>
          </a:xfrm>
          <a:prstGeom prst="line">
            <a:avLst/>
          </a:prstGeom>
          <a:ln w="31750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3264" y="643466"/>
            <a:ext cx="5171980" cy="5225628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Hipótesis: los trabajadores formales ganan más que los informales.</a:t>
            </a:r>
          </a:p>
          <a:p>
            <a:r>
              <a:t>Datos: EPH 2025T2 (INDEC).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336792"/>
            <a:ext cx="9141619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Base procesada en R con scripts 01–04.</a:t>
            </a:r>
          </a:p>
          <a:p>
            <a:r>
              <a:t>Muestra: ocupados con ingreso &gt; 0 y formalidad definida.</a:t>
            </a:r>
          </a:p>
          <a:p>
            <a:r>
              <a:t>Variables: ingreso_principal (P21), formalidad (EMPLEO), sexo, edad, educación.</a:t>
            </a:r>
          </a:p>
          <a:p>
            <a:r>
              <a:t>Transformación: log(ingreso_principal).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EDA: </a:t>
            </a:r>
            <a:r>
              <a:rPr dirty="0" err="1"/>
              <a:t>Distribución</a:t>
            </a:r>
            <a:r>
              <a:rPr dirty="0"/>
              <a:t> de la </a:t>
            </a:r>
            <a:r>
              <a:rPr dirty="0" err="1"/>
              <a:t>Muestra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N = 16.251 </a:t>
            </a:r>
            <a:r>
              <a:rPr dirty="0" err="1"/>
              <a:t>ocupados</a:t>
            </a:r>
            <a:r>
              <a:rPr dirty="0"/>
              <a:t>.</a:t>
            </a:r>
          </a:p>
          <a:p>
            <a:r>
              <a:rPr dirty="0"/>
              <a:t>57% </a:t>
            </a:r>
            <a:r>
              <a:rPr dirty="0" err="1"/>
              <a:t>formales</a:t>
            </a:r>
            <a:r>
              <a:rPr dirty="0"/>
              <a:t>, 43% </a:t>
            </a:r>
            <a:r>
              <a:rPr dirty="0" err="1"/>
              <a:t>informales</a:t>
            </a:r>
            <a:r>
              <a:rPr dirty="0"/>
              <a:t>.</a:t>
            </a:r>
          </a:p>
          <a:p>
            <a:r>
              <a:rPr dirty="0" err="1"/>
              <a:t>Ingreso</a:t>
            </a:r>
            <a:r>
              <a:rPr dirty="0"/>
              <a:t> antes de </a:t>
            </a:r>
            <a:r>
              <a:rPr dirty="0" err="1"/>
              <a:t>limpieza</a:t>
            </a:r>
            <a:r>
              <a:rPr dirty="0"/>
              <a:t>: media $808.400, </a:t>
            </a:r>
            <a:r>
              <a:rPr dirty="0" err="1"/>
              <a:t>mediana</a:t>
            </a:r>
            <a:r>
              <a:rPr dirty="0"/>
              <a:t> $680.000.</a:t>
            </a:r>
          </a:p>
          <a:p>
            <a:r>
              <a:rPr dirty="0"/>
              <a:t>Presencia de outliers: </a:t>
            </a:r>
            <a:r>
              <a:rPr dirty="0" err="1"/>
              <a:t>máximos</a:t>
            </a:r>
            <a:r>
              <a:rPr dirty="0"/>
              <a:t> de hasta $30M.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C1475-27E4-1DE0-930B-6FFF3ACD6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Distribución de la Muestra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09D9C05-AFD6-0C1B-501C-77F9ED194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161" y="1846263"/>
            <a:ext cx="643747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7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Estadísticas Descriptivas (Antes de limpieza)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Informal: media $457.434, mediana $400.000.</a:t>
            </a:r>
          </a:p>
          <a:p>
            <a:r>
              <a:t>Formal: media $1.074.967, mediana $900.000.</a:t>
            </a:r>
          </a:p>
          <a:p>
            <a:r>
              <a:t>Diferencia fuerte y visible a nivel descriptivo.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Outliers y Limpieza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Método: regla 1.5 * IQR.</a:t>
            </a:r>
          </a:p>
          <a:p>
            <a:r>
              <a:t>Se removieron ~6% de observaciones extremas.</a:t>
            </a:r>
          </a:p>
          <a:p>
            <a:r>
              <a:t>Efecto: valores más estables y menor dispersión.</a:t>
            </a:r>
          </a:p>
          <a:p>
            <a:r>
              <a:t>Diferencias se mantienen: formales siguen ganando más.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72" y="963997"/>
            <a:ext cx="2441018" cy="4938361"/>
          </a:xfrm>
        </p:spPr>
        <p:txBody>
          <a:bodyPr anchor="ctr">
            <a:normAutofit/>
          </a:bodyPr>
          <a:lstStyle/>
          <a:p>
            <a:pPr algn="r"/>
            <a:r>
              <a:rPr lang="es-AR" sz="3800"/>
              <a:t>Descriptivas después de limpieza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7688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161" y="963507"/>
            <a:ext cx="4601323" cy="4938851"/>
          </a:xfrm>
        </p:spPr>
        <p:txBody>
          <a:bodyPr anchor="ctr">
            <a:normAutofit/>
          </a:bodyPr>
          <a:lstStyle/>
          <a:p>
            <a:endParaRPr lang="es-MX" sz="1600"/>
          </a:p>
          <a:p>
            <a:r>
              <a:rPr lang="es-MX" sz="1600"/>
              <a:t>Informal: media $428.933.</a:t>
            </a:r>
          </a:p>
          <a:p>
            <a:r>
              <a:rPr lang="es-MX" sz="1600"/>
              <a:t>Formal: media $881.056.</a:t>
            </a:r>
          </a:p>
          <a:p>
            <a:r>
              <a:rPr lang="es-MX" sz="1600"/>
              <a:t>Brecha se mantiene sólida.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s-AR">
                <a:solidFill>
                  <a:schemeClr val="accent2"/>
                </a:solidFill>
              </a:rPr>
              <a:t>Test de Hipótesis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53" y="2023962"/>
            <a:ext cx="5023286" cy="3845131"/>
          </a:xfrm>
        </p:spPr>
        <p:txBody>
          <a:bodyPr>
            <a:normAutofit/>
          </a:bodyPr>
          <a:lstStyle/>
          <a:p>
            <a:endParaRPr/>
          </a:p>
          <a:p>
            <a:r>
              <a:t>t-test de Welch sobre log(ingreso).</a:t>
            </a:r>
          </a:p>
          <a:p>
            <a:r>
              <a:t>t = -76.23, p &lt; 2e-16.</a:t>
            </a:r>
          </a:p>
          <a:p>
            <a:r>
              <a:t>Conclusión: diferencia altamente significativa.</a:t>
            </a:r>
          </a:p>
          <a:p>
            <a:r>
              <a:t>Formales ganan más que informales (log-escala: 12.68 vs 13.57).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Regresión Lineal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Modelo: log_ingreso ~ formal + sexo + edad + educación.</a:t>
            </a:r>
          </a:p>
          <a:p>
            <a:r>
              <a:t>Efecto formalidad = 0.80 (p &lt; 2e-16).</a:t>
            </a:r>
          </a:p>
          <a:p>
            <a:r>
              <a:t>Interpretación: ~122% mayor ingreso para formales.</a:t>
            </a:r>
          </a:p>
          <a:p>
            <a:r>
              <a:t>Sexo: varones ≈ 43% más.</a:t>
            </a:r>
          </a:p>
          <a:p>
            <a:r>
              <a:t>Educación: cada nivel suma ~10%.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s-AR" sz="310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Hipótesis confirmada.</a:t>
            </a:r>
          </a:p>
          <a:p>
            <a:r>
              <a:t>La formalidad tiene un efecto fuerte y robusto.</a:t>
            </a:r>
          </a:p>
          <a:p>
            <a:r>
              <a:t>La brecha persiste controlando sexo, edad y educación.</a:t>
            </a:r>
          </a:p>
          <a:p>
            <a:r>
              <a:t>Resultados consistentes con literatura laboral.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Ingresos auto-reportados.</a:t>
            </a:r>
          </a:p>
          <a:p>
            <a:r>
              <a:t>Cambios metodológicos en EPH pueden afectar comparabilidad.</a:t>
            </a:r>
          </a:p>
          <a:p>
            <a:r>
              <a:t>Sesgos potenciales: no respuesta, subdeclaración, top-coding.</a:t>
            </a:r>
          </a:p>
          <a:p>
            <a:r>
              <a:t>Outliers: limpieza reduce varianza pero puede eliminar casos reales.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43AFC8-D8D0-4784-B08C-6324FA88E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B1A56-8AFB-4D4F-8D98-1E832D6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108" y="0"/>
            <a:ext cx="349304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872" y="1111753"/>
            <a:ext cx="2790265" cy="4634494"/>
          </a:xfrm>
          <a:ln w="25400" cap="sq">
            <a:noFill/>
            <a:miter lim="800000"/>
          </a:ln>
        </p:spPr>
        <p:txBody>
          <a:bodyPr anchor="ctr">
            <a:normAutofit/>
          </a:bodyPr>
          <a:lstStyle/>
          <a:p>
            <a:pPr algn="ctr"/>
            <a:r>
              <a:rPr lang="es-AR" sz="2800">
                <a:solidFill>
                  <a:srgbClr val="FFFFFF"/>
                </a:solidFill>
              </a:rPr>
              <a:t>Reproducibilidad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E828FC-05B4-4BA4-92D3-3DF79D42D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0108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654" y="1111753"/>
            <a:ext cx="3793047" cy="4628275"/>
          </a:xfrm>
        </p:spPr>
        <p:txBody>
          <a:bodyPr anchor="ctr">
            <a:normAutofit/>
          </a:bodyPr>
          <a:lstStyle/>
          <a:p>
            <a:endParaRPr lang="es-MX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s-MX">
                <a:solidFill>
                  <a:schemeClr val="tx1">
                    <a:lumMod val="85000"/>
                    <a:lumOff val="15000"/>
                  </a:schemeClr>
                </a:solidFill>
              </a:rPr>
              <a:t>Scripts 01–04 en carpeta /scripts.</a:t>
            </a:r>
          </a:p>
          <a:p>
            <a:r>
              <a:rPr lang="es-MX">
                <a:solidFill>
                  <a:schemeClr val="tx1">
                    <a:lumMod val="85000"/>
                    <a:lumOff val="15000"/>
                  </a:schemeClr>
                </a:solidFill>
              </a:rPr>
              <a:t>Output (tablas y figuras) en /output.</a:t>
            </a:r>
          </a:p>
          <a:p>
            <a:r>
              <a:rPr lang="es-MX">
                <a:solidFill>
                  <a:schemeClr val="tx1">
                    <a:lumMod val="85000"/>
                    <a:lumOff val="15000"/>
                  </a:schemeClr>
                </a:solidFill>
              </a:rPr>
              <a:t>Estructura del proyecto según consignas.</a:t>
            </a:r>
          </a:p>
          <a:p>
            <a:r>
              <a:rPr lang="es-MX">
                <a:solidFill>
                  <a:schemeClr val="tx1">
                    <a:lumMod val="85000"/>
                    <a:lumOff val="15000"/>
                  </a:schemeClr>
                </a:solidFill>
              </a:rPr>
              <a:t>Reposición completa posible corriendo 01→04 secuencialmente.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395</Words>
  <Application>Microsoft Office PowerPoint</Application>
  <PresentationFormat>Presentación en pantalla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Retrospección</vt:lpstr>
      <vt:lpstr>Análisis de Ingresos Laborales: Formal vs Informal</vt:lpstr>
      <vt:lpstr>Metodología</vt:lpstr>
      <vt:lpstr>EDA: Distribución de la Muestra</vt:lpstr>
      <vt:lpstr>Distribución de la Muestra</vt:lpstr>
      <vt:lpstr>Estadísticas Descriptivas (Antes de limpieza)</vt:lpstr>
      <vt:lpstr>Outliers y Limpieza</vt:lpstr>
      <vt:lpstr>Descriptivas después de limpieza</vt:lpstr>
      <vt:lpstr>Test de Hipótesis</vt:lpstr>
      <vt:lpstr>Regresión Lineal</vt:lpstr>
      <vt:lpstr>Conclusiones</vt:lpstr>
      <vt:lpstr>Limitaciones</vt:lpstr>
      <vt:lpstr>Reproducibilidad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Ramiro Martin Gioia</cp:lastModifiedBy>
  <cp:revision>3</cp:revision>
  <dcterms:created xsi:type="dcterms:W3CDTF">2013-01-27T09:14:16Z</dcterms:created>
  <dcterms:modified xsi:type="dcterms:W3CDTF">2025-12-03T07:24:02Z</dcterms:modified>
  <cp:category/>
</cp:coreProperties>
</file>